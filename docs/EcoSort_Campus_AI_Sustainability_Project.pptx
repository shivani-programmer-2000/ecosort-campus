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Introduce yourself and the project in one line: EcoSort Campus helps people sort campus waste correctly under the new four-stream rules. Mention that IBM Bob was used to build and review it, and that the demo answers from a knowledge base with retrieval (RAG). IBM Granite is supported as an optional answer writer but is not used in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problem statement in the required format. Explain that SDG 12 is the main focus; SDG 11 and 13 are supporting goals.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thinking stages 1 and 2. Ask the audience: when did you last stand at a bin unsure where something goes? Add your own observations from your campus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knowledge the assistant is grounded in. The assistant retrieves the exact passage rather than answering from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 back to the four guideline questions: what problem, who is affected, why AI (language understanding, images, grounded retrieval, scale) and what impact.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left to right. Granite is optional: with no key the app answers from the knowledge base in offline mode. Emphasise the two exits at the end: the assistant either gives a sourced answer or admits it is unsure.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 explicit that Bob is used during development and that a human reviews all output. Real examples from my sessions: Bob's review said Aadhaar numbers were not scrubbed, but the phone pattern already strips them; it said the stream guardrail cannot be bypassed from user input, but retrieval uses the user's own words; and one AI-written test passed even on the unfixed code, so I had it rewritten. Add a screenshot of your own Bob session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core prompt logic. Point out rule 1 (only use context) and rule 3 (say Not sure): these are what make the assistant trustworthy. This prompt is used only when Granite is enabled; in the offline demo the answer comes straight from the best-matching passage.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These are real outputs from the running offline prototype, not mock-ups. Show the last row on purpose: a trustworthy assistant knows what it does not know. The 43/43 score is on a small set written by the author, so treat it as a sanity check, not proof of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mandatory Responsible AI Considerations section: fairness, transparency, ethics and privacy, each with a concrete design choice.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thinking stages 1 to 5 mapped to this project, followed by a small realistic pilot. Update the pilot location and dates to match your campus.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planned measures, not results yet. After your pilot, replace with actual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key message: you are not solving the whole world's waste problem, but you are showing a responsible, practical use of AI that can be replicated.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548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97D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1M1B × IBM SkillsBuild × AICTE  |  AI for Sustainability Virtual Internship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EcoSort Campus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24028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CEB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assistant that tells students and staff which of the four waste streams every item belongs to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88620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NADELLA SHIVANI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97D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JAIN UNIVERSITY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309360" y="914400"/>
            <a:ext cx="2194560" cy="219456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463040"/>
            <a:ext cx="1097280" cy="10972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126480" y="3520440"/>
            <a:ext cx="2560320" cy="384048"/>
          </a:xfrm>
          <a:prstGeom prst="roundRect">
            <a:avLst>
              <a:gd name="adj" fmla="val 47619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6126480" y="35204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3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12  ·  Primary focus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126480" y="4023360"/>
            <a:ext cx="2560320" cy="384048"/>
          </a:xfrm>
          <a:prstGeom prst="roundRect">
            <a:avLst>
              <a:gd name="adj" fmla="val 47619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6126480" y="40233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11  ·  SDG 13  ·  Secondary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&amp; SDG alignment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754880" cy="3429000"/>
          </a:xfrm>
          <a:prstGeom prst="roundRect">
            <a:avLst>
              <a:gd name="adj" fmla="val 2133"/>
            </a:avLst>
          </a:prstGeom>
          <a:solidFill>
            <a:srgbClr val="12372A"/>
          </a:solidFill>
          <a:ln w="12700">
            <a:solidFill>
              <a:srgbClr val="1237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97D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4206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might we use AI to help students and staff segregate campus waste correctly at source so that campus waste management can become more sustainable?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6118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97D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rgbClr val="DCEB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· hostel residents · canteen and housekeeping staff · campus sustainability team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0" y="1188720"/>
            <a:ext cx="3200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23560" y="1417320"/>
            <a:ext cx="594360" cy="594360"/>
          </a:xfrm>
          <a:prstGeom prst="ellipse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3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128016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12 · Primary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Consumption and Production: correct sorting keeps materials in use.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0" y="2377440"/>
            <a:ext cx="3200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623560" y="2606040"/>
            <a:ext cx="594360" cy="594360"/>
          </a:xfrm>
          <a:prstGeom prst="ellipse">
            <a:avLst/>
          </a:prstGeom>
          <a:solidFill>
            <a:srgbClr val="2E7D4F"/>
          </a:solidFill>
          <a:ln>
            <a:solidFill>
              <a:srgbClr val="2E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246888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11 · Secondary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Cities and Communities: cleaner, safer campus and neighbourhood.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0" y="3566160"/>
            <a:ext cx="3200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623560" y="3794760"/>
            <a:ext cx="594360" cy="594360"/>
          </a:xfrm>
          <a:prstGeom prst="ellipse">
            <a:avLst/>
          </a:prstGeom>
          <a:solidFill>
            <a:srgbClr val="2E7D4F"/>
          </a:solidFill>
          <a:ln>
            <a:solidFill>
              <a:srgbClr val="2E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365760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13 · Secondary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Action: less mixed organic waste in landfills means less methane.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Empathize &amp; define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24328" cy="310896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371600"/>
            <a:ext cx="548640" cy="54864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087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3716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faces it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10312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and hostel residents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Canteen and housekeeping staff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sustainability team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Nearby community sharing the same collection system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64408" y="1188720"/>
            <a:ext cx="2624328" cy="310896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493008" y="1371600"/>
            <a:ext cx="548640" cy="548640"/>
          </a:xfrm>
          <a:prstGeom prst="ellipse">
            <a:avLst/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68" y="150876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178808" y="13716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persists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93008" y="210312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changed in April 2026; habits did not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items cause doubt: batteries, tissues, wrappers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Posters cannot answer "what about this item?"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to ask at 11 pm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071616" y="1188720"/>
            <a:ext cx="2624328" cy="310896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300216" y="1371600"/>
            <a:ext cx="548640" cy="548640"/>
          </a:xfrm>
          <a:prstGeom prst="ellipse">
            <a:avLst/>
          </a:prstGeom>
          <a:solidFill>
            <a:srgbClr val="C26A12"/>
          </a:solidFill>
          <a:ln w="12700">
            <a:solidFill>
              <a:srgbClr val="C26A1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0876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986016" y="13716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Current gaps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300216" y="210312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instant, item-level guidance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bins contaminate recyclables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are long legal text, not user-friendly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on which items confuse people most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Basis: Solid Waste Management Rules, 2026 (MoEFCC) make four-stream segregation at source mandatory from 1 April 2026, replacing the earlier three-stream system.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waste streams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1920240" cy="30175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97280" y="1463040"/>
            <a:ext cx="640080" cy="640080"/>
          </a:xfrm>
          <a:prstGeom prst="ellipse">
            <a:avLst/>
          </a:prstGeom>
          <a:solidFill>
            <a:srgbClr val="3E8E5A"/>
          </a:solidFill>
          <a:ln w="12700">
            <a:solidFill>
              <a:srgbClr val="3E8E5A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162306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2240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E8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Wet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651760"/>
            <a:ext cx="1554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scraps, fruit and vegetable peels, flowers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Goes to</a:t>
            </a:r>
            <a:endParaRPr lang="en-US" sz="1000" dirty="0"/>
          </a:p>
          <a:p>
            <a:pPr indent="0" marL="0">
              <a:buNone/>
            </a:pPr>
            <a:r>
              <a:rPr lang="en-US" sz="125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Composting or bio-methanation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560320" y="1234440"/>
            <a:ext cx="1920240" cy="30175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200400" y="1463040"/>
            <a:ext cx="640080" cy="640080"/>
          </a:xfrm>
          <a:prstGeom prst="ellipse">
            <a:avLst/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0420" y="162306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697480" y="2240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F6D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2743200" y="2651760"/>
            <a:ext cx="1554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Plastic, paper, metal, glass, wood, rubber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Goes to</a:t>
            </a:r>
            <a:endParaRPr lang="en-US" sz="1000" dirty="0"/>
          </a:p>
          <a:p>
            <a:pPr indent="0" marL="0">
              <a:buNone/>
            </a:pPr>
            <a:r>
              <a:rPr lang="en-US" sz="125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Recovery Facility for sorting and recycling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663440" y="1234440"/>
            <a:ext cx="1920240" cy="30175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303520" y="1463040"/>
            <a:ext cx="640080" cy="640080"/>
          </a:xfrm>
          <a:prstGeom prst="ellipse">
            <a:avLst/>
          </a:prstGeom>
          <a:solidFill>
            <a:srgbClr val="C26A12"/>
          </a:solidFill>
          <a:ln w="12700">
            <a:solidFill>
              <a:srgbClr val="C26A1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62306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800600" y="2240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26A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Sanitary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4846320" y="2651760"/>
            <a:ext cx="1554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diapers, sanitary pads, tampons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Goes to</a:t>
            </a:r>
            <a:endParaRPr lang="en-US" sz="1000" dirty="0"/>
          </a:p>
          <a:p>
            <a:pPr indent="0" marL="0">
              <a:buNone/>
            </a:pPr>
            <a:r>
              <a:rPr lang="en-US" sz="125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 securely and stored separately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6766560" y="1234440"/>
            <a:ext cx="1920240" cy="30175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06640" y="1463040"/>
            <a:ext cx="640080" cy="640080"/>
          </a:xfrm>
          <a:prstGeom prst="ellipse">
            <a:avLst/>
          </a:prstGeom>
          <a:solidFill>
            <a:srgbClr val="8E4585"/>
          </a:solidFill>
          <a:ln w="12700">
            <a:solidFill>
              <a:srgbClr val="8E4585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6660" y="162306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903720" y="2240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8E45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care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6949440" y="2651760"/>
            <a:ext cx="1554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</a:t>
            </a:r>
            <a:endParaRPr lang="en-US" sz="1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Bulbs, batteries, expired medicines, paint cans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Goes to</a:t>
            </a:r>
            <a:endParaRPr lang="en-US" sz="1000" dirty="0"/>
          </a:p>
          <a:p>
            <a:pPr indent="0" marL="0">
              <a:buNone/>
            </a:pPr>
            <a:r>
              <a:rPr lang="en-US" sz="125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Designated collection centres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SWM Rules, 2026 (MoEFCC), in force from 1 April 2026. Stream colours on this slide are illustrative; the assistant follows the bin colours used on your campus.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solution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0292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21792" y="1335024"/>
            <a:ext cx="475488" cy="47548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453896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23444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in plain words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"used tea bag" or upload a photo of the item.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075688"/>
            <a:ext cx="50292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621792" y="2221992"/>
            <a:ext cx="475488" cy="47548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p/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2340864"/>
            <a:ext cx="237744" cy="2377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80160" y="2121408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answers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Stream, one-line reason, how to dispose, and the source passage.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57200" y="2962656"/>
            <a:ext cx="50292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21792" y="3108960"/>
            <a:ext cx="475488" cy="47548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3227832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80160" y="3008376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fallback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rules do not cover the item, it says "Not sure" and points to a person.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57200" y="3849624"/>
            <a:ext cx="50292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621792" y="3995928"/>
            <a:ext cx="475488" cy="47548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p/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4114800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3895344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where people struggle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Anonymous thumbs up/down show which items to add to the guide.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5760720" y="1188720"/>
            <a:ext cx="2926080" cy="3438144"/>
          </a:xfrm>
          <a:prstGeom prst="roundRect">
            <a:avLst>
              <a:gd name="adj" fmla="val 2500"/>
            </a:avLst>
          </a:prstGeom>
          <a:solidFill>
            <a:srgbClr val="12372A"/>
          </a:solidFill>
          <a:ln w="12700">
            <a:solidFill>
              <a:srgbClr val="12372A"/>
            </a:solidFill>
            <a:prstDash val="solid"/>
          </a:ln>
        </p:spPr>
        <p:txBody>
          <a:bodyPr/>
          <a:p/>
        </p:txBody>
      </p:sp>
      <p:sp>
        <p:nvSpPr>
          <p:cNvPr id="20" name="Text 14"/>
          <p:cNvSpPr txBox="1"/>
          <p:nvPr/>
        </p:nvSpPr>
        <p:spPr>
          <a:xfrm>
            <a:off x="598932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AI?</a:t>
            </a:r>
            <a:endParaRPr lang="en-US" sz="2200" dirty="0"/>
          </a:p>
        </p:txBody>
      </p:sp>
      <p:sp>
        <p:nvSpPr>
          <p:cNvPr id="21" name="Text 15"/>
          <p:cNvSpPr txBox="1"/>
          <p:nvPr/>
        </p:nvSpPr>
        <p:spPr>
          <a:xfrm>
            <a:off x="5989320" y="1920240"/>
            <a:ext cx="2514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CEB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input: no need to read a legal text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CEB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photo input (experimental) when people cannot name the item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CEB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ties every answer to the official text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CEB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24×7 for every hostel and canteen at no extra staff cost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41832" y="1298448"/>
            <a:ext cx="402336" cy="402336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1399032"/>
            <a:ext cx="201168" cy="2011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7830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asks: text or photo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1828800" y="1828800"/>
            <a:ext cx="342900" cy="0"/>
          </a:xfrm>
          <a:prstGeom prst="line">
            <a:avLst/>
          </a:prstGeom>
          <a:noFill/>
          <a:ln w="22225">
            <a:solidFill>
              <a:srgbClr val="1F5F4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2171700" y="1188720"/>
            <a:ext cx="1371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2656332" y="1298448"/>
            <a:ext cx="402336" cy="402336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p/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916" y="1399032"/>
            <a:ext cx="201168" cy="2011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263140" y="17830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and understand the query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3543300" y="1828800"/>
            <a:ext cx="342900" cy="0"/>
          </a:xfrm>
          <a:prstGeom prst="line">
            <a:avLst/>
          </a:prstGeom>
          <a:noFill/>
          <a:ln w="22225">
            <a:solidFill>
              <a:srgbClr val="1F5F4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3886200" y="1188720"/>
            <a:ext cx="1371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4370832" y="1298448"/>
            <a:ext cx="402336" cy="402336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p/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416" y="1399032"/>
            <a:ext cx="201168" cy="20116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77640" y="17830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matching rules (RAG)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5257800" y="1828800"/>
            <a:ext cx="342900" cy="0"/>
          </a:xfrm>
          <a:prstGeom prst="line">
            <a:avLst/>
          </a:prstGeom>
          <a:noFill/>
          <a:ln w="22225">
            <a:solidFill>
              <a:srgbClr val="1F5F4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8" name="Shape 13"/>
          <p:cNvSpPr/>
          <p:nvPr/>
        </p:nvSpPr>
        <p:spPr>
          <a:xfrm>
            <a:off x="5600700" y="1188720"/>
            <a:ext cx="1371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9" name="Shape 14"/>
          <p:cNvSpPr/>
          <p:nvPr/>
        </p:nvSpPr>
        <p:spPr>
          <a:xfrm>
            <a:off x="6085332" y="1298448"/>
            <a:ext cx="402336" cy="402336"/>
          </a:xfrm>
          <a:prstGeom prst="ellipse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  <p:txBody>
          <a:bodyPr/>
          <a:p/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5916" y="1399032"/>
            <a:ext cx="201168" cy="20116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692140" y="17830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 answer (Granite optional)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6972300" y="1828800"/>
            <a:ext cx="342900" cy="0"/>
          </a:xfrm>
          <a:prstGeom prst="line">
            <a:avLst/>
          </a:prstGeom>
          <a:noFill/>
          <a:ln w="22225">
            <a:solidFill>
              <a:srgbClr val="1F5F4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Shape 17"/>
          <p:cNvSpPr/>
          <p:nvPr/>
        </p:nvSpPr>
        <p:spPr>
          <a:xfrm>
            <a:off x="7315200" y="1188720"/>
            <a:ext cx="1371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4" name="Shape 18"/>
          <p:cNvSpPr/>
          <p:nvPr/>
        </p:nvSpPr>
        <p:spPr>
          <a:xfrm>
            <a:off x="7799832" y="1298448"/>
            <a:ext cx="402336" cy="402336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p/>
        </p:txBody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0416" y="1399032"/>
            <a:ext cx="201168" cy="20116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406640" y="17830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and safety check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4572000" y="2468880"/>
            <a:ext cx="0" cy="594360"/>
          </a:xfrm>
          <a:prstGeom prst="line">
            <a:avLst/>
          </a:prstGeom>
          <a:noFill/>
          <a:ln w="22225">
            <a:solidFill>
              <a:srgbClr val="1F5F46"/>
            </a:solidFill>
            <a:prstDash val="solid"/>
            <a:headEnd type="triangle"/>
          </a:ln>
        </p:spPr>
        <p:txBody>
          <a:bodyPr/>
          <a:p/>
        </p:txBody>
      </p:sp>
      <p:sp>
        <p:nvSpPr>
          <p:cNvPr id="28" name="Shape 21"/>
          <p:cNvSpPr/>
          <p:nvPr/>
        </p:nvSpPr>
        <p:spPr>
          <a:xfrm>
            <a:off x="3840480" y="3063240"/>
            <a:ext cx="1463040" cy="1051560"/>
          </a:xfrm>
          <a:prstGeom prst="roundRect">
            <a:avLst>
              <a:gd name="adj" fmla="val 6957"/>
            </a:avLst>
          </a:prstGeom>
          <a:solidFill>
            <a:srgbClr val="DCEBE1"/>
          </a:solidFill>
          <a:ln w="12700">
            <a:solidFill>
              <a:srgbClr val="DCEBE1"/>
            </a:solidFill>
            <a:prstDash val="solid"/>
          </a:ln>
        </p:spPr>
        <p:txBody>
          <a:bodyPr/>
          <a:p/>
        </p:txBody>
      </p:sp>
      <p:sp>
        <p:nvSpPr>
          <p:cNvPr id="29" name="Text 22"/>
          <p:cNvSpPr txBox="1"/>
          <p:nvPr/>
        </p:nvSpPr>
        <p:spPr>
          <a:xfrm>
            <a:off x="3886200" y="3108960"/>
            <a:ext cx="1371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base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SWM Rules 2026 · campus bin guide · FAQs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01000" y="2468880"/>
            <a:ext cx="0" cy="274320"/>
          </a:xfrm>
          <a:prstGeom prst="line">
            <a:avLst/>
          </a:prstGeom>
          <a:noFill/>
          <a:ln w="22225">
            <a:solidFill>
              <a:srgbClr val="1F5F46"/>
            </a:solidFill>
            <a:prstDash val="solid"/>
          </a:ln>
        </p:spPr>
        <p:txBody>
          <a:bodyPr/>
          <a:p/>
        </p:txBody>
      </p:sp>
      <p:sp>
        <p:nvSpPr>
          <p:cNvPr id="31" name="Shape 24"/>
          <p:cNvSpPr/>
          <p:nvPr/>
        </p:nvSpPr>
        <p:spPr>
          <a:xfrm>
            <a:off x="6286500" y="2743200"/>
            <a:ext cx="1714500" cy="0"/>
          </a:xfrm>
          <a:prstGeom prst="line">
            <a:avLst/>
          </a:prstGeom>
          <a:noFill/>
          <a:ln w="22225">
            <a:solidFill>
              <a:srgbClr val="1F5F46"/>
            </a:solidFill>
            <a:prstDash val="solid"/>
          </a:ln>
        </p:spPr>
        <p:txBody>
          <a:bodyPr/>
          <a:p/>
        </p:txBody>
      </p:sp>
      <p:sp>
        <p:nvSpPr>
          <p:cNvPr id="32" name="Shape 25"/>
          <p:cNvSpPr/>
          <p:nvPr/>
        </p:nvSpPr>
        <p:spPr>
          <a:xfrm>
            <a:off x="6286500" y="2743200"/>
            <a:ext cx="0" cy="320040"/>
          </a:xfrm>
          <a:prstGeom prst="line">
            <a:avLst/>
          </a:prstGeom>
          <a:noFill/>
          <a:ln w="22225">
            <a:solidFill>
              <a:srgbClr val="1F5F4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3" name="Shape 26"/>
          <p:cNvSpPr/>
          <p:nvPr/>
        </p:nvSpPr>
        <p:spPr>
          <a:xfrm>
            <a:off x="8001000" y="2743200"/>
            <a:ext cx="0" cy="320040"/>
          </a:xfrm>
          <a:prstGeom prst="line">
            <a:avLst/>
          </a:prstGeom>
          <a:noFill/>
          <a:ln w="22225">
            <a:solidFill>
              <a:srgbClr val="1F5F4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4" name="Shape 27"/>
          <p:cNvSpPr/>
          <p:nvPr/>
        </p:nvSpPr>
        <p:spPr>
          <a:xfrm>
            <a:off x="5486400" y="3063240"/>
            <a:ext cx="1600200" cy="1051560"/>
          </a:xfrm>
          <a:prstGeom prst="roundRect">
            <a:avLst>
              <a:gd name="adj" fmla="val 6957"/>
            </a:avLst>
          </a:prstGeom>
          <a:solidFill>
            <a:srgbClr val="DCEBE1"/>
          </a:solidFill>
          <a:ln w="12700">
            <a:solidFill>
              <a:srgbClr val="DCEBE1"/>
            </a:solidFill>
            <a:prstDash val="solid"/>
          </a:ln>
        </p:spPr>
        <p:txBody>
          <a:bodyPr/>
          <a:p/>
        </p:txBody>
      </p:sp>
      <p:sp>
        <p:nvSpPr>
          <p:cNvPr id="35" name="Text 28"/>
          <p:cNvSpPr txBox="1"/>
          <p:nvPr/>
        </p:nvSpPr>
        <p:spPr>
          <a:xfrm>
            <a:off x="5559552" y="310896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confidence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card: stream, reason, source</a:t>
            </a:r>
            <a:endParaRPr lang="en-US" sz="1100" dirty="0"/>
          </a:p>
        </p:txBody>
      </p:sp>
      <p:sp>
        <p:nvSpPr>
          <p:cNvPr id="36" name="Shape 29"/>
          <p:cNvSpPr/>
          <p:nvPr/>
        </p:nvSpPr>
        <p:spPr>
          <a:xfrm>
            <a:off x="7246620" y="3063240"/>
            <a:ext cx="1508760" cy="1051560"/>
          </a:xfrm>
          <a:prstGeom prst="roundRect">
            <a:avLst>
              <a:gd name="adj" fmla="val 6957"/>
            </a:avLst>
          </a:prstGeom>
          <a:solidFill>
            <a:srgbClr val="FCE9C8"/>
          </a:solidFill>
          <a:ln w="12700">
            <a:solidFill>
              <a:srgbClr val="FCE9C8"/>
            </a:solidFill>
            <a:prstDash val="solid"/>
          </a:ln>
        </p:spPr>
        <p:txBody>
          <a:bodyPr/>
          <a:p/>
        </p:txBody>
      </p:sp>
      <p:sp>
        <p:nvSpPr>
          <p:cNvPr id="37" name="Text 30"/>
          <p:cNvSpPr txBox="1"/>
          <p:nvPr/>
        </p:nvSpPr>
        <p:spPr>
          <a:xfrm>
            <a:off x="7315200" y="3108960"/>
            <a:ext cx="1371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confidence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 sure" and refer to campus desk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457200" y="3063240"/>
            <a:ext cx="29260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9" name="Shape 32"/>
          <p:cNvSpPr/>
          <p:nvPr/>
        </p:nvSpPr>
        <p:spPr>
          <a:xfrm>
            <a:off x="621792" y="3364992"/>
            <a:ext cx="457200" cy="45720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p/>
        </p:txBody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6092" y="3479292"/>
            <a:ext cx="228600" cy="22860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234440" y="310896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loop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Anonymous thumbs up/down improve the knowledge base</a:t>
            </a:r>
            <a:endParaRPr lang="en-US" sz="1100" dirty="0"/>
          </a:p>
        </p:txBody>
      </p:sp>
      <p:sp>
        <p:nvSpPr>
          <p:cNvPr id="42" name="Text 34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1F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Bob builds and reviews this pipeline; Granite powers step 4 when enabled, else offline mode.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 use IBM Bob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12372A"/>
          </a:solidFill>
          <a:ln w="12700">
            <a:solidFill>
              <a:srgbClr val="12372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685800" y="114300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Bob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my AI development partner at build time.  </a:t>
            </a:r>
            <a:pPr indent="0" marL="0">
              <a:buNone/>
            </a:pPr>
            <a:r>
              <a:rPr lang="en-US" sz="14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answers users at run time; Granite is optional.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1499616" cy="219456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78408" y="2148840"/>
            <a:ext cx="457200" cy="45720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708" y="2263140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2697480"/>
            <a:ext cx="1316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30632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the codebase and wrote AGENTS.md project rules (/init).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139696" y="2011680"/>
            <a:ext cx="1499616" cy="219456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2660904" y="2148840"/>
            <a:ext cx="457200" cy="45720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p/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5204" y="2263140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231136" y="2697480"/>
            <a:ext cx="1316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2249424" y="30632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4 security fixes: error text, key redaction, cache cap, PAN.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3822192" y="2011680"/>
            <a:ext cx="1499616" cy="219456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4343400" y="2148840"/>
            <a:ext cx="457200" cy="45720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p/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7700" y="2263140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3913632" y="2697480"/>
            <a:ext cx="1316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3931920" y="30632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Wrote 20 extra test items (18 pass) and 6 new unit tests.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5504688" y="2011680"/>
            <a:ext cx="1499616" cy="219456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6025896" y="2148840"/>
            <a:ext cx="457200" cy="45720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p/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0196" y="2263140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596128" y="2697480"/>
            <a:ext cx="1316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614416" y="30632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Wrote a one-page user guide for housekeeping staff.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7187184" y="2011680"/>
            <a:ext cx="1499616" cy="219456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6" name="Shape 20"/>
          <p:cNvSpPr/>
          <p:nvPr/>
        </p:nvSpPr>
        <p:spPr>
          <a:xfrm>
            <a:off x="7708392" y="2148840"/>
            <a:ext cx="457200" cy="45720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p/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2692" y="226314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278624" y="2697480"/>
            <a:ext cx="1316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</a:t>
            </a:r>
            <a:endParaRPr lang="en-US" sz="1500" dirty="0"/>
          </a:p>
        </p:txBody>
      </p:sp>
      <p:sp>
        <p:nvSpPr>
          <p:cNvPr id="29" name="Text 22"/>
          <p:cNvSpPr txBox="1"/>
          <p:nvPr/>
        </p:nvSpPr>
        <p:spPr>
          <a:xfrm>
            <a:off x="7296912" y="30632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review: 10 findings, none high. I corrected 3 claims and 1 weak test.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457200" y="4389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in the loop: I read, run and edit everything Bob produces before it is used.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Prototype: prompt workflow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937760" cy="3429000"/>
          </a:xfrm>
          <a:prstGeom prst="roundRect">
            <a:avLst>
              <a:gd name="adj" fmla="val 2133"/>
            </a:avLst>
          </a:prstGeom>
          <a:solidFill>
            <a:srgbClr val="12372A"/>
          </a:solidFill>
          <a:ln w="12700">
            <a:solidFill>
              <a:srgbClr val="12372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7D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(EXCERPT)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45920"/>
            <a:ext cx="45720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F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ROLE: You are EcoSort, a campus waste guide.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8F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CONTEXT: {top-3 passages from SWM Rules 2026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8F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the campus bin guide}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8F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TASK: Put the item in ONE stream: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8F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Wet | Dry | Sanitary | Special care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8F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8F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Use ONLY the context. Never guess.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8F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Reply as: Stream / Why (1 line) /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8F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to dispose / Source.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8F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If the context does not cover the item,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8F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reply "Not sure" and refer the user to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8F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campus sustainability desk.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8F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Never ask for names or personal data.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8F3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ITEM: {user_input}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669280" y="1188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Workflow logic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669280" y="1691640"/>
            <a:ext cx="30175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779008" y="1819656"/>
            <a:ext cx="365760" cy="365760"/>
          </a:xfrm>
          <a:prstGeom prst="ellipse">
            <a:avLst/>
          </a:prstGeom>
          <a:solidFill>
            <a:srgbClr val="2E7D4F"/>
          </a:solidFill>
          <a:ln>
            <a:solidFill>
              <a:srgbClr val="2E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728216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the top 3 passages for the item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0" y="2423160"/>
            <a:ext cx="30175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779008" y="2551176"/>
            <a:ext cx="365760" cy="365760"/>
          </a:xfrm>
          <a:prstGeom prst="ellipse">
            <a:avLst/>
          </a:prstGeom>
          <a:solidFill>
            <a:srgbClr val="2E7D4F"/>
          </a:solidFill>
          <a:ln>
            <a:solidFill>
              <a:srgbClr val="2E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459736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Granite is on, it answers from only those passages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0" y="3154680"/>
            <a:ext cx="30175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779008" y="3282696"/>
            <a:ext cx="365760" cy="365760"/>
          </a:xfrm>
          <a:prstGeom prst="ellipse">
            <a:avLst/>
          </a:prstGeom>
          <a:solidFill>
            <a:srgbClr val="2E7D4F"/>
          </a:solidFill>
          <a:ln>
            <a:solidFill>
              <a:srgbClr val="2E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3191256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confidence or no source: say "Not sure"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0" y="3886200"/>
            <a:ext cx="30175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779008" y="4014216"/>
            <a:ext cx="365760" cy="365760"/>
          </a:xfrm>
          <a:prstGeom prst="ellipse">
            <a:avLst/>
          </a:prstGeom>
          <a:solidFill>
            <a:srgbClr val="2E7D4F"/>
          </a:solidFill>
          <a:ln>
            <a:solidFill>
              <a:srgbClr val="2E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3922776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answer card and ask for thumbs up/down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 inputs and outputs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11556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TYPE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069080" y="11155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ECOSORT ANSWERS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94360" y="137160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Banana peel from the canteen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743200" y="1499616"/>
            <a:ext cx="1188720" cy="274320"/>
          </a:xfrm>
          <a:prstGeom prst="roundRect">
            <a:avLst>
              <a:gd name="adj" fmla="val 40000"/>
            </a:avLst>
          </a:prstGeom>
          <a:solidFill>
            <a:srgbClr val="3E8E5A"/>
          </a:solidFill>
          <a:ln>
            <a:solidFill>
              <a:srgbClr val="3E8E5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WET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4069080" y="1371600"/>
            <a:ext cx="4526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 and vegetable peels are organic kitchen waste. Put it in the wet bin for composting. Source: Campus bin guide.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993392"/>
            <a:ext cx="822960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594360" y="199339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plastic water bottle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743200" y="2121408"/>
            <a:ext cx="1188720" cy="274320"/>
          </a:xfrm>
          <a:prstGeom prst="roundRect">
            <a:avLst>
              <a:gd name="adj" fmla="val 40000"/>
            </a:avLst>
          </a:prstGeom>
          <a:solidFill>
            <a:srgbClr val="2F6DB5"/>
          </a:solidFill>
          <a:ln>
            <a:solidFill>
              <a:srgbClr val="2F6DB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4069080" y="1993392"/>
            <a:ext cx="4526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Plastic is a dry recyclable. Keep it clean and dry in the dry bin. Source: Campus bin guide.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615184"/>
            <a:ext cx="822960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94360" y="2615184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sanitary pad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743200" y="2743200"/>
            <a:ext cx="1188720" cy="274320"/>
          </a:xfrm>
          <a:prstGeom prst="roundRect">
            <a:avLst>
              <a:gd name="adj" fmla="val 40000"/>
            </a:avLst>
          </a:prstGeom>
          <a:solidFill>
            <a:srgbClr val="C26A12"/>
          </a:solidFill>
          <a:ln>
            <a:solidFill>
              <a:srgbClr val="C26A1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SANITARY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069080" y="2615184"/>
            <a:ext cx="4526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it securely and store it separately from other waste. Source: Campus bin guide.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236976"/>
            <a:ext cx="822960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594360" y="3236976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tube light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743200" y="3364992"/>
            <a:ext cx="1188720" cy="274320"/>
          </a:xfrm>
          <a:prstGeom prst="roundRect">
            <a:avLst>
              <a:gd name="adj" fmla="val 40000"/>
            </a:avLst>
          </a:prstGeom>
          <a:solidFill>
            <a:srgbClr val="8E4585"/>
          </a:solidFill>
          <a:ln>
            <a:solidFill>
              <a:srgbClr val="8E458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CARE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069080" y="3236976"/>
            <a:ext cx="4526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Tube lights are special care waste. Hand over at a designated collection point. Source: Campus bin guide.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858768"/>
            <a:ext cx="822960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594360" y="385876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phone charger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2743200" y="3986784"/>
            <a:ext cx="1188720" cy="274320"/>
          </a:xfrm>
          <a:prstGeom prst="roundRect">
            <a:avLst>
              <a:gd name="adj" fmla="val 40000"/>
            </a:avLst>
          </a:prstGeom>
          <a:solidFill>
            <a:srgbClr val="5A6B62"/>
          </a:solidFill>
          <a:ln>
            <a:solidFill>
              <a:srgbClr val="5A6B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SURE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4069080" y="3858768"/>
            <a:ext cx="4526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could not find this item in my sources, so I will not guess. Please ask the campus sustainability desk.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outputs from the offline prototype. Built-in test set: 43/43 correct, 0 confidently wrong (small, author-made set).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Responsible AI considerations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" y="1325880"/>
            <a:ext cx="548640" cy="54864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6304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Fairness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6459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with items from many regions and households, use plain language, and keep the tool free and login-free.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663440" y="114300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4892040" y="1325880"/>
            <a:ext cx="548640" cy="54864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p/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46304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623560" y="12527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Transparency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623560" y="16459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shows the stream, the reason and the source passage. When unsure, it says so.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457200" y="274320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685800" y="2926080"/>
            <a:ext cx="548640" cy="54864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p/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06324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17320" y="28529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Ethics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417320" y="32461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only: no monitoring or penalising of people. Safety notes for sanitary and hazardous items; no medical advice.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4663440" y="274320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9" name="Shape 14"/>
          <p:cNvSpPr/>
          <p:nvPr/>
        </p:nvSpPr>
        <p:spPr>
          <a:xfrm>
            <a:off x="4892040" y="2926080"/>
            <a:ext cx="548640" cy="54864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p/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306324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623560" y="28529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Privacy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5623560" y="32461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accounts or names. E-mail, phone and PAN numbers are stripped; photos stay in memory; only anonymous counts are kept.</a:t>
            </a:r>
            <a:endParaRPr lang="en-US" sz="1250" dirty="0"/>
          </a:p>
        </p:txBody>
      </p:sp>
      <p:sp>
        <p:nvSpPr>
          <p:cNvPr id="23" name="Text 17"/>
          <p:cNvSpPr txBox="1"/>
          <p:nvPr/>
        </p:nvSpPr>
        <p:spPr>
          <a:xfrm>
            <a:off x="457200" y="4389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oversight: mentors and campus staff review test results before any pilot.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thinking and pilot plan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499616" cy="173736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78408" y="1261872"/>
            <a:ext cx="457200" cy="45720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708" y="1376172"/>
            <a:ext cx="228600" cy="228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30352" y="178308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Empathize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075688"/>
            <a:ext cx="1316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bins and talk to students and housekeeping staff.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139696" y="1143000"/>
            <a:ext cx="1499616" cy="173736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2660904" y="1261872"/>
            <a:ext cx="457200" cy="45720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5204" y="1376172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212848" y="178308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2231136" y="2075688"/>
            <a:ext cx="1316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problem statement, users and gaps.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822192" y="1143000"/>
            <a:ext cx="1499616" cy="173736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343400" y="1261872"/>
            <a:ext cx="457200" cy="45720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7700" y="1376172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895344" y="178308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Ideate</a:t>
            </a:r>
            <a:endParaRPr lang="en-US" sz="1250" dirty="0"/>
          </a:p>
        </p:txBody>
      </p:sp>
      <p:sp>
        <p:nvSpPr>
          <p:cNvPr id="17" name="Text 12"/>
          <p:cNvSpPr txBox="1"/>
          <p:nvPr/>
        </p:nvSpPr>
        <p:spPr>
          <a:xfrm>
            <a:off x="3913632" y="2075688"/>
            <a:ext cx="1316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chatbot, image tool and RAG assistant; pick the feasible one.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5504688" y="1143000"/>
            <a:ext cx="1499616" cy="173736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025896" y="1261872"/>
            <a:ext cx="457200" cy="45720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0196" y="1376172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77840" y="178308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250" dirty="0"/>
          </a:p>
        </p:txBody>
      </p:sp>
      <p:sp>
        <p:nvSpPr>
          <p:cNvPr id="22" name="Text 16"/>
          <p:cNvSpPr txBox="1"/>
          <p:nvPr/>
        </p:nvSpPr>
        <p:spPr>
          <a:xfrm>
            <a:off x="5596128" y="2075688"/>
            <a:ext cx="1316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diagram, prompt logic and sample outputs.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7187184" y="1143000"/>
            <a:ext cx="1499616" cy="173736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7708392" y="1261872"/>
            <a:ext cx="457200" cy="45720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2692" y="1376172"/>
            <a:ext cx="228600" cy="2286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260336" y="178308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and refine</a:t>
            </a:r>
            <a:endParaRPr lang="en-US" sz="1250" dirty="0"/>
          </a:p>
        </p:txBody>
      </p:sp>
      <p:sp>
        <p:nvSpPr>
          <p:cNvPr id="27" name="Text 20"/>
          <p:cNvSpPr txBox="1"/>
          <p:nvPr/>
        </p:nvSpPr>
        <p:spPr>
          <a:xfrm>
            <a:off x="7278624" y="2075688"/>
            <a:ext cx="13167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feedback, bin audits, fix wrong answers.</a:t>
            </a:r>
            <a:endParaRPr lang="en-US" sz="1050" dirty="0"/>
          </a:p>
        </p:txBody>
      </p:sp>
      <p:sp>
        <p:nvSpPr>
          <p:cNvPr id="28" name="Text 21"/>
          <p:cNvSpPr txBox="1"/>
          <p:nvPr/>
        </p:nvSpPr>
        <p:spPr>
          <a:xfrm>
            <a:off x="457200" y="3017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4-week pilot plan</a:t>
            </a:r>
            <a:endParaRPr lang="en-US" sz="1800" dirty="0"/>
          </a:p>
        </p:txBody>
      </p:sp>
      <p:sp>
        <p:nvSpPr>
          <p:cNvPr id="29" name="Shape 22"/>
          <p:cNvSpPr/>
          <p:nvPr/>
        </p:nvSpPr>
        <p:spPr>
          <a:xfrm>
            <a:off x="457200" y="342900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Text 23"/>
          <p:cNvSpPr txBox="1"/>
          <p:nvPr/>
        </p:nvSpPr>
        <p:spPr>
          <a:xfrm>
            <a:off x="594360" y="352044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300" dirty="0"/>
          </a:p>
          <a:p>
            <a:pPr indent="0" marL="0">
              <a:buNone/>
            </a:pPr>
            <a:r>
              <a:rPr lang="en-US" sz="125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RAG pipeline with Bob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2560320" y="342900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2697480" y="352044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300" dirty="0"/>
          </a:p>
          <a:p>
            <a:pPr indent="0" marL="0">
              <a:buNone/>
            </a:pPr>
            <a:r>
              <a:rPr lang="en-US" sz="125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test set and fix wrong answers</a:t>
            </a:r>
            <a:endParaRPr lang="en-US" sz="1300" dirty="0"/>
          </a:p>
        </p:txBody>
      </p:sp>
      <p:sp>
        <p:nvSpPr>
          <p:cNvPr id="33" name="Shape 26"/>
          <p:cNvSpPr/>
          <p:nvPr/>
        </p:nvSpPr>
        <p:spPr>
          <a:xfrm>
            <a:off x="4663440" y="342900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Text 27"/>
          <p:cNvSpPr txBox="1"/>
          <p:nvPr/>
        </p:nvSpPr>
        <p:spPr>
          <a:xfrm>
            <a:off x="4800600" y="352044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300" dirty="0"/>
          </a:p>
          <a:p>
            <a:pPr indent="0" marL="0">
              <a:buNone/>
            </a:pPr>
            <a:r>
              <a:rPr lang="en-US" sz="125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review, then pilot in one hostel or canteen</a:t>
            </a:r>
            <a:endParaRPr lang="en-US" sz="1300" dirty="0"/>
          </a:p>
        </p:txBody>
      </p:sp>
      <p:sp>
        <p:nvSpPr>
          <p:cNvPr id="35" name="Shape 28"/>
          <p:cNvSpPr/>
          <p:nvPr/>
        </p:nvSpPr>
        <p:spPr>
          <a:xfrm>
            <a:off x="6766560" y="342900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6" name="Text 29"/>
          <p:cNvSpPr txBox="1"/>
          <p:nvPr/>
        </p:nvSpPr>
        <p:spPr>
          <a:xfrm>
            <a:off x="6903720" y="352044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300" dirty="0"/>
          </a:p>
          <a:p>
            <a:pPr indent="0" marL="0">
              <a:buNone/>
            </a:pPr>
            <a:r>
              <a:rPr lang="en-US" sz="1250" dirty="0">
                <a:solidFill>
                  <a:srgbClr val="1B2B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 audit before vs after; refine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impact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24328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371600"/>
            <a:ext cx="548640" cy="54864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087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3716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Environmental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1031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Cleaner recyclable streams, more compost, and less mixed waste sent to landfill.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64408" y="1188720"/>
            <a:ext cx="2624328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493008" y="1371600"/>
            <a:ext cx="548640" cy="54864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68" y="150876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178808" y="13716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Social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93008" y="21031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 handling of sanitary and hazardous items, and everyone learns the new rules.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071616" y="1188720"/>
            <a:ext cx="2624328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300216" y="1371600"/>
            <a:ext cx="548640" cy="54864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50876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986016" y="13716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Economic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300216" y="21031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time spent re-sorting waste, better recycling value, low cost with open models.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57200" y="347472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12372A"/>
          </a:solidFill>
          <a:ln w="12700">
            <a:solidFill>
              <a:srgbClr val="12372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85800" y="3566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97D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WILL MEASURE IT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685800" y="388620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Bin-audit accuracy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items in the right bin, before vs after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3383280" y="388620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quality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answers with a correct source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6080760" y="388620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Usefulness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Thumbs-up rate and "Not sure" rate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3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statement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2743200"/>
          </a:xfrm>
          <a:prstGeom prst="roundRect">
            <a:avLst>
              <a:gd name="adj" fmla="val 2667"/>
            </a:avLst>
          </a:prstGeom>
          <a:solidFill>
            <a:srgbClr val="1C4A38"/>
          </a:solidFill>
          <a:ln w="12700">
            <a:solidFill>
              <a:srgbClr val="1C4A38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731520" y="13258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changes if implemented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2880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is sorted correctly at the point of disposal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rules become simple, instant answers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Recyclables stay clean; organic waste is composted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 can be re-pointed to any city's rules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2743200"/>
          </a:xfrm>
          <a:prstGeom prst="roundRect">
            <a:avLst>
              <a:gd name="adj" fmla="val 2667"/>
            </a:avLst>
          </a:prstGeom>
          <a:solidFill>
            <a:srgbClr val="1C4A38"/>
          </a:solidFill>
          <a:ln w="12700">
            <a:solidFill>
              <a:srgbClr val="1C4A38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4937760" y="13258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benefits, and how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182880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and residents: quick, judgement-free guidance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Housekeeping staff: less mixed and hazardous waste to handle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administration: easier compliance with SWM Rules 2026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and community: less pollution, more circular use of resources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97D3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can be a force for sustainability, inclusion and positive change.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CEB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NADELLA SHIVANI  ·  JAIN UNIVERSITY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EcoSort Campus - AI for Sustainability</dc:title>
  <dc:subject>PptxGenJS Presentation</dc:subject>
  <dc:creator>PptxGenJS</dc:creator>
  <cp:lastModifiedBy>PptxGenJS</cp:lastModifiedBy>
  <cp:revision>1</cp:revision>
  <dcterms:created xsi:type="dcterms:W3CDTF">2026-09-19T10:16:22Z</dcterms:created>
  <dcterms:modified xsi:type="dcterms:W3CDTF">2026-09-19T10:16:22Z</dcterms:modified>
</cp:coreProperties>
</file>